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94660"/>
  </p:normalViewPr>
  <p:slideViewPr>
    <p:cSldViewPr snapToGrid="0">
      <p:cViewPr varScale="1">
        <p:scale>
          <a:sx n="76" d="100"/>
          <a:sy n="76" d="100"/>
        </p:scale>
        <p:origin x="126"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4095238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96704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950702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FF8813-3698-4524-BF35-689850B3D31A}"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923378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FF8813-3698-4524-BF35-689850B3D31A}"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318561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FF8813-3698-4524-BF35-689850B3D31A}"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940242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FF8813-3698-4524-BF35-689850B3D31A}"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585189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FF8813-3698-4524-BF35-689850B3D31A}"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571928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FF8813-3698-4524-BF35-689850B3D31A}"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3849561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1610287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97819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83433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2232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8417995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15966270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31531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FF8813-3698-4524-BF35-689850B3D31A}" type="datetimeFigureOut">
              <a:rPr lang="en-US" smtClean="0"/>
              <a:t>2/3/2026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7B6CA4C-32E0-475A-B3AA-7E3690FECCCD}" type="slidenum">
              <a:rPr lang="en-US" smtClean="0"/>
              <a:t>‹#›</a:t>
            </a:fld>
            <a:endParaRPr lang="en-US"/>
          </a:p>
        </p:txBody>
      </p:sp>
    </p:spTree>
    <p:extLst>
      <p:ext uri="{BB962C8B-B14F-4D97-AF65-F5344CB8AC3E}">
        <p14:creationId xmlns:p14="http://schemas.microsoft.com/office/powerpoint/2010/main" val="859888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D0671A57-BC9E-E5B3-3FBA-D91335140099}"/>
              </a:ext>
            </a:extLst>
          </p:cNvPr>
          <p:cNvSpPr>
            <a:spLocks noGrp="1"/>
          </p:cNvSpPr>
          <p:nvPr>
            <p:ph type="ctrTitle"/>
          </p:nvPr>
        </p:nvSpPr>
        <p:spPr>
          <a:xfrm>
            <a:off x="1485900" y="2646363"/>
            <a:ext cx="8077200" cy="4554537"/>
          </a:xfrm>
        </p:spPr>
        <p:txBody>
          <a:bodyPr>
            <a:normAutofit fontScale="90000"/>
          </a:bodyPr>
          <a:lstStyle/>
          <a:p>
            <a:pPr algn="ctr"/>
            <a:br>
              <a:rPr lang="en-GB" sz="3200" b="1" dirty="0"/>
            </a:br>
            <a:br>
              <a:rPr lang="en-GB" sz="3200" b="1" dirty="0"/>
            </a:br>
            <a:br>
              <a:rPr lang="en-GB" sz="3200" b="1" dirty="0"/>
            </a:br>
            <a:br>
              <a:rPr lang="en-GB" sz="3200" b="1" dirty="0"/>
            </a:br>
            <a:br>
              <a:rPr lang="en-GB" sz="3200" b="1" dirty="0"/>
            </a:br>
            <a:br>
              <a:rPr lang="en-GB" sz="3200" b="1" dirty="0"/>
            </a:br>
            <a:br>
              <a:rPr lang="en-GB" sz="3200" b="1" dirty="0"/>
            </a:br>
            <a:br>
              <a:rPr lang="en-GB" sz="3200" b="1" dirty="0"/>
            </a:br>
            <a:br>
              <a:rPr lang="en-GB" sz="3200" b="1" dirty="0">
                <a:solidFill>
                  <a:schemeClr val="tx1"/>
                </a:solidFill>
              </a:rPr>
            </a:br>
            <a:br>
              <a:rPr lang="en-GB" sz="2800" dirty="0">
                <a:solidFill>
                  <a:schemeClr val="tx1"/>
                </a:solidFill>
              </a:rPr>
            </a:br>
            <a:r>
              <a:rPr lang="en-GB" sz="2800" b="1" dirty="0">
                <a:solidFill>
                  <a:schemeClr val="tx1"/>
                </a:solidFill>
              </a:rPr>
              <a:t>“Python is a high-level, versatile programming language widely used for data analysis, automation, web development, and machine learning. Its simplicity and extensive libraries like Pandas, NumPy, and Matplotlib make it ideal for analyzing data and creating insightful visualizations.”</a:t>
            </a:r>
            <a:br>
              <a:rPr lang="en-GB" sz="2800" b="1" dirty="0">
                <a:solidFill>
                  <a:schemeClr val="tx1"/>
                </a:solidFill>
              </a:rPr>
            </a:br>
            <a:br>
              <a:rPr lang="en-GB" sz="2800" b="1" dirty="0">
                <a:solidFill>
                  <a:schemeClr val="tx1"/>
                </a:solidFill>
              </a:rPr>
            </a:br>
            <a:br>
              <a:rPr lang="en-GB" sz="2800" b="1" dirty="0"/>
            </a:br>
            <a:br>
              <a:rPr lang="en-GB" sz="2800" b="1" dirty="0"/>
            </a:br>
            <a:br>
              <a:rPr lang="en-GB" sz="2800" b="1" dirty="0"/>
            </a:br>
            <a:br>
              <a:rPr lang="en-GB" sz="2800" b="1" dirty="0"/>
            </a:br>
            <a:br>
              <a:rPr lang="en-GB" sz="2800" b="1" dirty="0"/>
            </a:br>
            <a:br>
              <a:rPr lang="en-GB" sz="2800" dirty="0"/>
            </a:br>
            <a:endParaRPr lang="en-US" sz="2800" dirty="0"/>
          </a:p>
        </p:txBody>
      </p:sp>
      <p:sp>
        <p:nvSpPr>
          <p:cNvPr id="6" name="TextBox 5">
            <a:extLst>
              <a:ext uri="{FF2B5EF4-FFF2-40B4-BE49-F238E27FC236}">
                <a16:creationId xmlns:a16="http://schemas.microsoft.com/office/drawing/2014/main" id="{D0483F5C-1F45-1A42-0C41-1BFAEE4F082A}"/>
              </a:ext>
            </a:extLst>
          </p:cNvPr>
          <p:cNvSpPr txBox="1"/>
          <p:nvPr/>
        </p:nvSpPr>
        <p:spPr>
          <a:xfrm>
            <a:off x="3810000" y="1206500"/>
            <a:ext cx="3835400" cy="523220"/>
          </a:xfrm>
          <a:prstGeom prst="rect">
            <a:avLst/>
          </a:prstGeom>
          <a:noFill/>
        </p:spPr>
        <p:txBody>
          <a:bodyPr wrap="square" rtlCol="0">
            <a:spAutoFit/>
          </a:bodyPr>
          <a:lstStyle/>
          <a:p>
            <a:r>
              <a:rPr lang="en-GB" sz="2800" b="1" dirty="0"/>
              <a:t>Python introduction</a:t>
            </a:r>
            <a:endParaRPr lang="en-US" sz="2800" b="1" dirty="0"/>
          </a:p>
        </p:txBody>
      </p:sp>
      <p:pic>
        <p:nvPicPr>
          <p:cNvPr id="8" name="Picture 7">
            <a:extLst>
              <a:ext uri="{FF2B5EF4-FFF2-40B4-BE49-F238E27FC236}">
                <a16:creationId xmlns:a16="http://schemas.microsoft.com/office/drawing/2014/main" id="{F98EF191-87F4-8E1B-1106-FE0C45606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4495800"/>
            <a:ext cx="3556000" cy="1816100"/>
          </a:xfrm>
          <a:prstGeom prst="rect">
            <a:avLst/>
          </a:prstGeom>
        </p:spPr>
      </p:pic>
    </p:spTree>
    <p:extLst>
      <p:ext uri="{BB962C8B-B14F-4D97-AF65-F5344CB8AC3E}">
        <p14:creationId xmlns:p14="http://schemas.microsoft.com/office/powerpoint/2010/main" val="1923241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14A9-8276-DAF9-4E48-12F9B5342377}"/>
              </a:ext>
            </a:extLst>
          </p:cNvPr>
          <p:cNvSpPr>
            <a:spLocks noGrp="1"/>
          </p:cNvSpPr>
          <p:nvPr>
            <p:ph type="title"/>
          </p:nvPr>
        </p:nvSpPr>
        <p:spPr>
          <a:xfrm>
            <a:off x="0" y="0"/>
            <a:ext cx="11353800" cy="6858000"/>
          </a:xfrm>
        </p:spPr>
        <p:txBody>
          <a:bodyPr>
            <a:noAutofit/>
          </a:bodyPr>
          <a:lstStyle/>
          <a:p>
            <a:br>
              <a:rPr lang="en-GB" sz="2000" b="1" dirty="0"/>
            </a:br>
            <a:br>
              <a:rPr lang="en-GB" sz="2000" b="1" dirty="0"/>
            </a:br>
            <a:br>
              <a:rPr lang="en-GB" sz="2000" b="1" dirty="0"/>
            </a:br>
            <a:br>
              <a:rPr lang="en-GB" sz="2000" b="1" dirty="0"/>
            </a:br>
            <a:r>
              <a:rPr lang="en-GB" sz="2000" b="1" dirty="0">
                <a:solidFill>
                  <a:schemeClr val="tx1"/>
                </a:solidFill>
              </a:rPr>
              <a:t>Python project .1</a:t>
            </a:r>
            <a:br>
              <a:rPr lang="en-GB" sz="2000" b="1" dirty="0">
                <a:solidFill>
                  <a:schemeClr val="tx1"/>
                </a:solidFill>
              </a:rPr>
            </a:br>
            <a:br>
              <a:rPr lang="en-GB" sz="2000" b="1" dirty="0">
                <a:solidFill>
                  <a:schemeClr val="tx1"/>
                </a:solidFill>
              </a:rPr>
            </a:br>
            <a:r>
              <a:rPr lang="en-GB" sz="2000" b="1" dirty="0">
                <a:solidFill>
                  <a:schemeClr val="tx1"/>
                </a:solidFill>
              </a:rPr>
              <a:t>problem .1</a:t>
            </a:r>
            <a:br>
              <a:rPr lang="en-GB" sz="2000" b="1" dirty="0">
                <a:solidFill>
                  <a:schemeClr val="tx1"/>
                </a:solidFill>
              </a:rPr>
            </a:br>
            <a:br>
              <a:rPr lang="en-GB" sz="2000" b="1" dirty="0">
                <a:solidFill>
                  <a:schemeClr val="tx1"/>
                </a:solidFill>
              </a:rPr>
            </a:br>
            <a:r>
              <a:rPr lang="en-GB" sz="2000" b="1" dirty="0">
                <a:solidFill>
                  <a:schemeClr val="tx1"/>
                </a:solidFill>
              </a:rPr>
              <a:t>Sales Performance Analysis by City</a:t>
            </a:r>
            <a:br>
              <a:rPr lang="en-GB" sz="2000" b="1" dirty="0">
                <a:solidFill>
                  <a:schemeClr val="tx1"/>
                </a:solidFill>
              </a:rPr>
            </a:br>
            <a:r>
              <a:rPr lang="en-GB" sz="2000" dirty="0">
                <a:solidFill>
                  <a:schemeClr val="tx1"/>
                </a:solidFill>
              </a:rPr>
              <a:t>This code calculates the total sales for each city and displays them in descending order.</a:t>
            </a:r>
            <a:br>
              <a:rPr lang="en-GB" sz="2000" b="1" dirty="0">
                <a:solidFill>
                  <a:schemeClr val="tx1"/>
                </a:solidFill>
              </a:rPr>
            </a:br>
            <a:br>
              <a:rPr lang="en-GB" sz="2000" b="1" dirty="0">
                <a:solidFill>
                  <a:schemeClr val="tx1"/>
                </a:solidFill>
              </a:rPr>
            </a:br>
            <a:br>
              <a:rPr lang="en-GB" sz="2000" b="1" dirty="0">
                <a:solidFill>
                  <a:schemeClr val="tx1"/>
                </a:solidFill>
              </a:rPr>
            </a:br>
            <a:r>
              <a:rPr lang="en-GB" sz="2000" b="1" dirty="0">
                <a:solidFill>
                  <a:schemeClr val="tx1"/>
                </a:solidFill>
              </a:rPr>
              <a:t>Problem .2</a:t>
            </a:r>
            <a:br>
              <a:rPr lang="en-GB" sz="2000" b="1" dirty="0">
                <a:solidFill>
                  <a:schemeClr val="tx1"/>
                </a:solidFill>
              </a:rPr>
            </a:br>
            <a:br>
              <a:rPr lang="en-GB" sz="2000" b="1" dirty="0">
                <a:solidFill>
                  <a:schemeClr val="tx1"/>
                </a:solidFill>
              </a:rPr>
            </a:br>
            <a:r>
              <a:rPr lang="en-GB" sz="2000" b="1" dirty="0">
                <a:solidFill>
                  <a:schemeClr val="tx1"/>
                </a:solidFill>
              </a:rPr>
              <a:t>Profit Performance by Product Category</a:t>
            </a:r>
            <a:br>
              <a:rPr lang="en-GB" sz="2000" b="1" dirty="0">
                <a:solidFill>
                  <a:schemeClr val="tx1"/>
                </a:solidFill>
              </a:rPr>
            </a:br>
            <a:r>
              <a:rPr lang="en-GB" sz="2000" dirty="0">
                <a:solidFill>
                  <a:schemeClr val="tx1"/>
                </a:solidFill>
              </a:rPr>
              <a:t>This code calculates the total profit for each category and displays them from highest to lowest.</a:t>
            </a:r>
            <a:br>
              <a:rPr lang="en-GB" sz="2000" b="1" dirty="0">
                <a:solidFill>
                  <a:schemeClr val="tx1"/>
                </a:solidFill>
              </a:rPr>
            </a:br>
            <a:br>
              <a:rPr lang="en-GB" sz="2000" b="1" dirty="0">
                <a:solidFill>
                  <a:schemeClr val="tx1"/>
                </a:solidFill>
              </a:rPr>
            </a:br>
            <a:br>
              <a:rPr lang="en-GB" sz="2000" b="1" dirty="0"/>
            </a:br>
            <a:br>
              <a:rPr lang="en-GB" sz="2800" dirty="0"/>
            </a:br>
            <a:br>
              <a:rPr lang="en-GB" sz="2800" dirty="0"/>
            </a:br>
            <a:br>
              <a:rPr lang="en-GB" sz="2800" dirty="0"/>
            </a:br>
            <a:br>
              <a:rPr lang="en-GB" sz="2800" dirty="0"/>
            </a:br>
            <a:br>
              <a:rPr lang="en-GB" sz="2800" dirty="0"/>
            </a:br>
            <a:br>
              <a:rPr lang="en-GB" sz="2800" dirty="0"/>
            </a:br>
            <a:br>
              <a:rPr lang="en-GB" sz="2800" dirty="0"/>
            </a:br>
            <a:br>
              <a:rPr lang="en-GB" sz="2800" dirty="0"/>
            </a:br>
            <a:endParaRPr lang="en-US" sz="2800" dirty="0"/>
          </a:p>
        </p:txBody>
      </p:sp>
    </p:spTree>
    <p:extLst>
      <p:ext uri="{BB962C8B-B14F-4D97-AF65-F5344CB8AC3E}">
        <p14:creationId xmlns:p14="http://schemas.microsoft.com/office/powerpoint/2010/main" val="2071848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F8ED-38E8-C17F-8086-8CDBE5042760}"/>
              </a:ext>
            </a:extLst>
          </p:cNvPr>
          <p:cNvSpPr>
            <a:spLocks noGrp="1"/>
          </p:cNvSpPr>
          <p:nvPr>
            <p:ph type="title"/>
          </p:nvPr>
        </p:nvSpPr>
        <p:spPr>
          <a:xfrm>
            <a:off x="0" y="0"/>
            <a:ext cx="12192000" cy="815975"/>
          </a:xfrm>
        </p:spPr>
        <p:txBody>
          <a:bodyPr>
            <a:normAutofit fontScale="90000"/>
          </a:bodyPr>
          <a:lstStyle/>
          <a:p>
            <a:r>
              <a:rPr lang="en-GB" sz="2200" b="1" dirty="0">
                <a:solidFill>
                  <a:schemeClr val="tx1"/>
                </a:solidFill>
              </a:rPr>
              <a:t>Sales Performance Analysis by City</a:t>
            </a:r>
            <a:br>
              <a:rPr lang="en-GB" sz="1800" b="1" dirty="0">
                <a:solidFill>
                  <a:schemeClr val="tx1"/>
                </a:solidFill>
              </a:rPr>
            </a:br>
            <a:r>
              <a:rPr lang="en-GB" sz="2000" dirty="0">
                <a:solidFill>
                  <a:schemeClr val="tx1"/>
                </a:solidFill>
              </a:rPr>
              <a:t>This code calculates the total sales for each city and displays them in descending order</a:t>
            </a:r>
            <a:r>
              <a:rPr lang="en-GB" sz="1600" dirty="0"/>
              <a:t>.</a:t>
            </a:r>
            <a:br>
              <a:rPr lang="en-GB" sz="1400" b="1" dirty="0"/>
            </a:br>
            <a:endParaRPr lang="en-US" sz="1400" dirty="0"/>
          </a:p>
        </p:txBody>
      </p:sp>
      <p:pic>
        <p:nvPicPr>
          <p:cNvPr id="5" name="Content Placeholder 4">
            <a:extLst>
              <a:ext uri="{FF2B5EF4-FFF2-40B4-BE49-F238E27FC236}">
                <a16:creationId xmlns:a16="http://schemas.microsoft.com/office/drawing/2014/main" id="{8DD1A369-B659-DD94-C506-0E60FD3C5F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40552"/>
            <a:ext cx="5778500" cy="964448"/>
          </a:xfrm>
        </p:spPr>
      </p:pic>
      <p:pic>
        <p:nvPicPr>
          <p:cNvPr id="7" name="Picture 6">
            <a:extLst>
              <a:ext uri="{FF2B5EF4-FFF2-40B4-BE49-F238E27FC236}">
                <a16:creationId xmlns:a16="http://schemas.microsoft.com/office/drawing/2014/main" id="{E2024664-5109-0F82-10E1-C1BB6401E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8493" y="940552"/>
            <a:ext cx="3559307" cy="1916948"/>
          </a:xfrm>
          <a:prstGeom prst="rect">
            <a:avLst/>
          </a:prstGeom>
        </p:spPr>
      </p:pic>
      <p:sp>
        <p:nvSpPr>
          <p:cNvPr id="8" name="Title 1">
            <a:extLst>
              <a:ext uri="{FF2B5EF4-FFF2-40B4-BE49-F238E27FC236}">
                <a16:creationId xmlns:a16="http://schemas.microsoft.com/office/drawing/2014/main" id="{DDD0648F-18CF-88E2-8A20-B1AC85B470FA}"/>
              </a:ext>
            </a:extLst>
          </p:cNvPr>
          <p:cNvSpPr txBox="1">
            <a:spLocks/>
          </p:cNvSpPr>
          <p:nvPr/>
        </p:nvSpPr>
        <p:spPr>
          <a:xfrm>
            <a:off x="0" y="2997200"/>
            <a:ext cx="12192000" cy="8159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100" b="1" dirty="0"/>
              <a:t>Profit Performance by Product Categor</a:t>
            </a:r>
            <a:r>
              <a:rPr lang="en-GB" sz="1600" b="1" dirty="0"/>
              <a:t>y</a:t>
            </a:r>
            <a:endParaRPr lang="en-GB" sz="1800" b="1" dirty="0"/>
          </a:p>
          <a:p>
            <a:r>
              <a:rPr lang="en-GB" sz="1800" dirty="0"/>
              <a:t>“This code calculates the total profit for each category and displays them from highest to lowest</a:t>
            </a:r>
            <a:r>
              <a:rPr lang="en-GB" sz="2500" b="1" dirty="0"/>
              <a:t>.</a:t>
            </a:r>
            <a:endParaRPr lang="en-US" sz="1800" dirty="0"/>
          </a:p>
        </p:txBody>
      </p:sp>
      <p:pic>
        <p:nvPicPr>
          <p:cNvPr id="12" name="Picture 11">
            <a:extLst>
              <a:ext uri="{FF2B5EF4-FFF2-40B4-BE49-F238E27FC236}">
                <a16:creationId xmlns:a16="http://schemas.microsoft.com/office/drawing/2014/main" id="{FCFCDEC2-8296-D4D8-2C88-D120889163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940084"/>
            <a:ext cx="8048493" cy="771615"/>
          </a:xfrm>
          <a:prstGeom prst="rect">
            <a:avLst/>
          </a:prstGeom>
        </p:spPr>
      </p:pic>
      <p:pic>
        <p:nvPicPr>
          <p:cNvPr id="14" name="Picture 13">
            <a:extLst>
              <a:ext uri="{FF2B5EF4-FFF2-40B4-BE49-F238E27FC236}">
                <a16:creationId xmlns:a16="http://schemas.microsoft.com/office/drawing/2014/main" id="{2B4B9919-EF09-90EC-4A92-200ACC3625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8500" y="4605276"/>
            <a:ext cx="3289300" cy="2113023"/>
          </a:xfrm>
          <a:prstGeom prst="rect">
            <a:avLst/>
          </a:prstGeom>
        </p:spPr>
      </p:pic>
    </p:spTree>
    <p:extLst>
      <p:ext uri="{BB962C8B-B14F-4D97-AF65-F5344CB8AC3E}">
        <p14:creationId xmlns:p14="http://schemas.microsoft.com/office/powerpoint/2010/main" val="125588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8707A4-F955-2FDC-4AA0-91703306F25E}"/>
              </a:ext>
            </a:extLst>
          </p:cNvPr>
          <p:cNvSpPr>
            <a:spLocks noGrp="1"/>
          </p:cNvSpPr>
          <p:nvPr>
            <p:ph idx="1"/>
          </p:nvPr>
        </p:nvSpPr>
        <p:spPr>
          <a:xfrm>
            <a:off x="0" y="0"/>
            <a:ext cx="12192000" cy="6857999"/>
          </a:xfrm>
        </p:spPr>
        <p:txBody>
          <a:bodyPr>
            <a:normAutofit/>
          </a:bodyPr>
          <a:lstStyle/>
          <a:p>
            <a:endParaRPr lang="en-GB" sz="2000" b="1" dirty="0">
              <a:solidFill>
                <a:schemeClr val="tx1"/>
              </a:solidFill>
            </a:endParaRPr>
          </a:p>
          <a:p>
            <a:pPr marL="0" indent="0">
              <a:buNone/>
            </a:pPr>
            <a:endParaRPr lang="en-GB" sz="2000" b="1" dirty="0">
              <a:solidFill>
                <a:schemeClr val="tx1"/>
              </a:solidFill>
            </a:endParaRPr>
          </a:p>
          <a:p>
            <a:pPr marL="0" indent="0">
              <a:buNone/>
            </a:pPr>
            <a:r>
              <a:rPr lang="en-GB" sz="2000" b="1" dirty="0">
                <a:solidFill>
                  <a:schemeClr val="tx1"/>
                </a:solidFill>
              </a:rPr>
              <a:t>Python project .2</a:t>
            </a:r>
          </a:p>
          <a:p>
            <a:pPr marL="0" indent="0">
              <a:buNone/>
            </a:pPr>
            <a:endParaRPr lang="en-GB" sz="2000" b="1" dirty="0">
              <a:solidFill>
                <a:schemeClr val="tx1"/>
              </a:solidFill>
            </a:endParaRPr>
          </a:p>
          <a:p>
            <a:pPr marL="0" indent="0">
              <a:buNone/>
            </a:pPr>
            <a:r>
              <a:rPr lang="en-GB" sz="2000" b="1" dirty="0">
                <a:solidFill>
                  <a:schemeClr val="tx1"/>
                </a:solidFill>
              </a:rPr>
              <a:t>Problem .1</a:t>
            </a:r>
          </a:p>
          <a:p>
            <a:pPr marL="0" indent="0">
              <a:buNone/>
            </a:pPr>
            <a:r>
              <a:rPr lang="en-GB" sz="2000" b="1" dirty="0">
                <a:solidFill>
                  <a:schemeClr val="tx1"/>
                </a:solidFill>
              </a:rPr>
              <a:t>Payment Method Frequency</a:t>
            </a:r>
          </a:p>
          <a:p>
            <a:pPr marL="0" indent="0">
              <a:buNone/>
            </a:pPr>
            <a:r>
              <a:rPr lang="en-GB" sz="2000" dirty="0">
                <a:solidFill>
                  <a:schemeClr val="tx1"/>
                </a:solidFill>
              </a:rPr>
              <a:t>It counts how many times each payment method appears.</a:t>
            </a:r>
            <a:endParaRPr lang="en-GB" sz="2000" b="1" dirty="0">
              <a:solidFill>
                <a:schemeClr val="tx1"/>
              </a:solidFill>
            </a:endParaRPr>
          </a:p>
          <a:p>
            <a:pPr marL="0" indent="0">
              <a:buNone/>
            </a:pPr>
            <a:endParaRPr lang="en-GB" sz="2000" b="1" dirty="0">
              <a:solidFill>
                <a:schemeClr val="tx1"/>
              </a:solidFill>
            </a:endParaRPr>
          </a:p>
          <a:p>
            <a:pPr marL="0" indent="0">
              <a:buNone/>
            </a:pPr>
            <a:r>
              <a:rPr lang="en-GB" sz="2000" b="1" dirty="0">
                <a:solidFill>
                  <a:schemeClr val="tx1"/>
                </a:solidFill>
              </a:rPr>
              <a:t>Problem .2</a:t>
            </a:r>
          </a:p>
          <a:p>
            <a:pPr marL="0" indent="0">
              <a:buNone/>
            </a:pPr>
            <a:r>
              <a:rPr lang="en-GB" sz="2000" b="1" dirty="0">
                <a:solidFill>
                  <a:schemeClr val="tx1"/>
                </a:solidFill>
              </a:rPr>
              <a:t>Order Status Distribution</a:t>
            </a:r>
          </a:p>
          <a:p>
            <a:pPr marL="0" indent="0">
              <a:buNone/>
            </a:pPr>
            <a:r>
              <a:rPr lang="en-GB" sz="2000" dirty="0">
                <a:solidFill>
                  <a:schemeClr val="tx1"/>
                </a:solidFill>
              </a:rPr>
              <a:t>This line prints the count of orders for each status (Completed, Pending, Cancelled)</a:t>
            </a:r>
          </a:p>
          <a:p>
            <a:pPr marL="0" indent="0">
              <a:buNone/>
            </a:pPr>
            <a:endParaRPr lang="en-GB" sz="2000" b="1" dirty="0">
              <a:solidFill>
                <a:schemeClr val="tx1"/>
              </a:solidFill>
            </a:endParaRPr>
          </a:p>
          <a:p>
            <a:pPr marL="0" indent="0">
              <a:buNone/>
            </a:pPr>
            <a:r>
              <a:rPr lang="en-GB" sz="2000" b="1" dirty="0">
                <a:solidFill>
                  <a:schemeClr val="tx1"/>
                </a:solidFill>
              </a:rPr>
              <a:t>Problem .3</a:t>
            </a:r>
          </a:p>
          <a:p>
            <a:pPr marL="0" indent="0">
              <a:buNone/>
            </a:pPr>
            <a:r>
              <a:rPr lang="en-GB" sz="2000" b="1" dirty="0">
                <a:solidFill>
                  <a:schemeClr val="tx1"/>
                </a:solidFill>
              </a:rPr>
              <a:t>Top Customer by Total Sales</a:t>
            </a:r>
          </a:p>
          <a:p>
            <a:pPr marL="0" indent="0">
              <a:buNone/>
            </a:pPr>
            <a:r>
              <a:rPr lang="en-GB" sz="2000" dirty="0">
                <a:solidFill>
                  <a:schemeClr val="tx1"/>
                </a:solidFill>
              </a:rPr>
              <a:t>the name at the top represents the customer with the highest total sales.</a:t>
            </a:r>
            <a:endParaRPr lang="en-US" sz="2000" b="1" dirty="0">
              <a:solidFill>
                <a:schemeClr val="tx1"/>
              </a:solidFill>
            </a:endParaRPr>
          </a:p>
        </p:txBody>
      </p:sp>
    </p:spTree>
    <p:extLst>
      <p:ext uri="{BB962C8B-B14F-4D97-AF65-F5344CB8AC3E}">
        <p14:creationId xmlns:p14="http://schemas.microsoft.com/office/powerpoint/2010/main" val="2916996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
          </a:xfrm>
        </p:spPr>
        <p:txBody>
          <a:bodyPr>
            <a:noAutofit/>
          </a:bodyPr>
          <a:lstStyle/>
          <a:p>
            <a:r>
              <a:rPr lang="en-GB" sz="2000" b="1" dirty="0">
                <a:solidFill>
                  <a:schemeClr val="tx1"/>
                </a:solidFill>
              </a:rPr>
              <a:t>Payment Method Frequency</a:t>
            </a:r>
            <a:br>
              <a:rPr lang="en-GB" sz="2000" b="1" dirty="0">
                <a:solidFill>
                  <a:schemeClr val="tx1"/>
                </a:solidFill>
              </a:rPr>
            </a:br>
            <a:r>
              <a:rPr lang="en-GB" sz="1800" dirty="0">
                <a:solidFill>
                  <a:schemeClr val="tx1"/>
                </a:solidFill>
              </a:rPr>
              <a:t>It counts how many times each payment method appears.</a:t>
            </a:r>
            <a:br>
              <a:rPr lang="en-GB" sz="2000" b="1" dirty="0">
                <a:solidFill>
                  <a:schemeClr val="tx1"/>
                </a:solidFill>
              </a:rPr>
            </a:br>
            <a:br>
              <a:rPr lang="en-GB" sz="2000" b="1" dirty="0">
                <a:solidFill>
                  <a:schemeClr val="tx1"/>
                </a:solidFill>
              </a:rPr>
            </a:br>
            <a:br>
              <a:rPr lang="en-GB" sz="2000" b="1" dirty="0">
                <a:solidFill>
                  <a:schemeClr val="tx1"/>
                </a:solidFill>
              </a:rPr>
            </a:br>
            <a:endParaRPr lang="en-GB" sz="2000" b="1" dirty="0">
              <a:solidFill>
                <a:schemeClr val="tx1"/>
              </a:solidFill>
            </a:endParaRPr>
          </a:p>
        </p:txBody>
      </p:sp>
      <p:pic>
        <p:nvPicPr>
          <p:cNvPr id="4" name="Content Placeholder 3">
            <a:extLst>
              <a:ext uri="{FF2B5EF4-FFF2-40B4-BE49-F238E27FC236}">
                <a16:creationId xmlns:a16="http://schemas.microsoft.com/office/drawing/2014/main" id="{0760F45E-1D0E-96B1-D5DA-B4BF7F3213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997200"/>
            <a:ext cx="5994400" cy="863600"/>
          </a:xfrm>
        </p:spPr>
      </p:pic>
      <p:sp>
        <p:nvSpPr>
          <p:cNvPr id="6" name="Title 1"/>
          <p:cNvSpPr txBox="1">
            <a:spLocks/>
          </p:cNvSpPr>
          <p:nvPr/>
        </p:nvSpPr>
        <p:spPr>
          <a:xfrm>
            <a:off x="0" y="2182018"/>
            <a:ext cx="12192000" cy="68580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1" dirty="0">
                <a:solidFill>
                  <a:schemeClr val="tx1"/>
                </a:solidFill>
              </a:rPr>
              <a:t>Order Status Distribution</a:t>
            </a:r>
          </a:p>
          <a:p>
            <a:r>
              <a:rPr lang="en-GB" sz="1800" dirty="0">
                <a:solidFill>
                  <a:schemeClr val="tx1"/>
                </a:solidFill>
              </a:rPr>
              <a:t>This line prints the count of orders for each status (Completed, Pending, Cancelled).</a:t>
            </a:r>
          </a:p>
          <a:p>
            <a:endParaRPr lang="en-GB" sz="1800" dirty="0">
              <a:solidFill>
                <a:schemeClr val="tx1"/>
              </a:solidFill>
            </a:endParaRPr>
          </a:p>
          <a:p>
            <a:r>
              <a:rPr lang="en-GB" sz="2000" dirty="0">
                <a:solidFill>
                  <a:schemeClr val="tx1"/>
                </a:solidFill>
              </a:rPr>
              <a:t>.</a:t>
            </a:r>
            <a:br>
              <a:rPr lang="en-GB" sz="2400" b="1" dirty="0">
                <a:solidFill>
                  <a:schemeClr val="tx1"/>
                </a:solidFill>
              </a:rPr>
            </a:br>
            <a:endParaRPr lang="en-GB" sz="2400" b="1" dirty="0">
              <a:solidFill>
                <a:schemeClr val="tx1"/>
              </a:solidFill>
            </a:endParaRPr>
          </a:p>
        </p:txBody>
      </p:sp>
      <p:pic>
        <p:nvPicPr>
          <p:cNvPr id="8" name="Picture 7">
            <a:extLst>
              <a:ext uri="{FF2B5EF4-FFF2-40B4-BE49-F238E27FC236}">
                <a16:creationId xmlns:a16="http://schemas.microsoft.com/office/drawing/2014/main" id="{34660FEC-79FA-607D-5240-BB05F648C0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5250" y="2568573"/>
            <a:ext cx="2984500" cy="1533526"/>
          </a:xfrm>
          <a:prstGeom prst="rect">
            <a:avLst/>
          </a:prstGeom>
        </p:spPr>
      </p:pic>
      <p:pic>
        <p:nvPicPr>
          <p:cNvPr id="10" name="Picture 9">
            <a:extLst>
              <a:ext uri="{FF2B5EF4-FFF2-40B4-BE49-F238E27FC236}">
                <a16:creationId xmlns:a16="http://schemas.microsoft.com/office/drawing/2014/main" id="{0D1D454B-D837-3A5D-2524-A5C544B93F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85250" y="144859"/>
            <a:ext cx="2984500" cy="1605755"/>
          </a:xfrm>
          <a:prstGeom prst="rect">
            <a:avLst/>
          </a:prstGeom>
        </p:spPr>
      </p:pic>
      <p:pic>
        <p:nvPicPr>
          <p:cNvPr id="12" name="Picture 11">
            <a:extLst>
              <a:ext uri="{FF2B5EF4-FFF2-40B4-BE49-F238E27FC236}">
                <a16:creationId xmlns:a16="http://schemas.microsoft.com/office/drawing/2014/main" id="{98674FA0-D607-09A2-239B-331C7D363B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746094"/>
            <a:ext cx="5994400" cy="777906"/>
          </a:xfrm>
          <a:prstGeom prst="rect">
            <a:avLst/>
          </a:prstGeom>
        </p:spPr>
      </p:pic>
      <p:sp>
        <p:nvSpPr>
          <p:cNvPr id="13" name="Title 1">
            <a:extLst>
              <a:ext uri="{FF2B5EF4-FFF2-40B4-BE49-F238E27FC236}">
                <a16:creationId xmlns:a16="http://schemas.microsoft.com/office/drawing/2014/main" id="{925A4A13-967B-1EB6-C553-4994184DAD4B}"/>
              </a:ext>
            </a:extLst>
          </p:cNvPr>
          <p:cNvSpPr txBox="1">
            <a:spLocks/>
          </p:cNvSpPr>
          <p:nvPr/>
        </p:nvSpPr>
        <p:spPr>
          <a:xfrm>
            <a:off x="0" y="4102099"/>
            <a:ext cx="12192000" cy="68580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1800" b="1" dirty="0">
                <a:solidFill>
                  <a:schemeClr val="tx1"/>
                </a:solidFill>
              </a:rPr>
              <a:t>Top Customer by Total Sales</a:t>
            </a:r>
          </a:p>
          <a:p>
            <a:r>
              <a:rPr lang="en-GB" sz="1800" dirty="0">
                <a:solidFill>
                  <a:schemeClr val="tx1"/>
                </a:solidFill>
              </a:rPr>
              <a:t>the name at the top represents the customer with the highest total sales.</a:t>
            </a:r>
            <a:endParaRPr lang="en-US" sz="1800" b="1" dirty="0">
              <a:solidFill>
                <a:schemeClr val="tx1"/>
              </a:solidFill>
            </a:endParaRPr>
          </a:p>
          <a:p>
            <a:endParaRPr lang="en-GB" sz="1800" dirty="0">
              <a:solidFill>
                <a:schemeClr val="tx1"/>
              </a:solidFill>
            </a:endParaRPr>
          </a:p>
          <a:p>
            <a:r>
              <a:rPr lang="en-GB" sz="2000" dirty="0">
                <a:solidFill>
                  <a:schemeClr val="tx1"/>
                </a:solidFill>
              </a:rPr>
              <a:t>.</a:t>
            </a:r>
            <a:br>
              <a:rPr lang="en-GB" sz="2400" b="1" dirty="0">
                <a:solidFill>
                  <a:schemeClr val="tx1"/>
                </a:solidFill>
              </a:rPr>
            </a:br>
            <a:endParaRPr lang="en-GB" sz="2400" b="1" dirty="0">
              <a:solidFill>
                <a:schemeClr val="tx1"/>
              </a:solidFill>
            </a:endParaRPr>
          </a:p>
        </p:txBody>
      </p:sp>
      <p:pic>
        <p:nvPicPr>
          <p:cNvPr id="15" name="Picture 14">
            <a:extLst>
              <a:ext uri="{FF2B5EF4-FFF2-40B4-BE49-F238E27FC236}">
                <a16:creationId xmlns:a16="http://schemas.microsoft.com/office/drawing/2014/main" id="{3740F043-FAD2-A974-5A91-48A025FDAA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745034"/>
            <a:ext cx="7725853" cy="906465"/>
          </a:xfrm>
          <a:prstGeom prst="rect">
            <a:avLst/>
          </a:prstGeom>
        </p:spPr>
      </p:pic>
      <p:pic>
        <p:nvPicPr>
          <p:cNvPr id="17" name="Picture 16">
            <a:extLst>
              <a:ext uri="{FF2B5EF4-FFF2-40B4-BE49-F238E27FC236}">
                <a16:creationId xmlns:a16="http://schemas.microsoft.com/office/drawing/2014/main" id="{803F7718-81C2-E9B6-83C7-C088EA6615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85251" y="4406898"/>
            <a:ext cx="2984500" cy="2306243"/>
          </a:xfrm>
          <a:prstGeom prst="rect">
            <a:avLst/>
          </a:prstGeom>
        </p:spPr>
      </p:pic>
    </p:spTree>
    <p:extLst>
      <p:ext uri="{BB962C8B-B14F-4D97-AF65-F5344CB8AC3E}">
        <p14:creationId xmlns:p14="http://schemas.microsoft.com/office/powerpoint/2010/main" val="3439067288"/>
      </p:ext>
    </p:extLst>
  </p:cSld>
  <p:clrMapOvr>
    <a:masterClrMapping/>
  </p:clrMapOvr>
</p:sld>
</file>

<file path=ppt/theme/theme1.xml><?xml version="1.0" encoding="utf-8"?>
<a:theme xmlns:a="http://schemas.openxmlformats.org/drawingml/2006/main" name="Face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106</TotalTime>
  <Words>317</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Trebuchet MS</vt:lpstr>
      <vt:lpstr>Wingdings 3</vt:lpstr>
      <vt:lpstr>Facet</vt:lpstr>
      <vt:lpstr>          “Python is a high-level, versatile programming language widely used for data analysis, automation, web development, and machine learning. Its simplicity and extensive libraries like Pandas, NumPy, and Matplotlib make it ideal for analyzing data and creating insightful visualizations.”        </vt:lpstr>
      <vt:lpstr>    Python project .1  problem .1  Sales Performance Analysis by City This code calculates the total sales for each city and displays them in descending order.   Problem .2  Profit Performance by Product Category This code calculates the total profit for each category and displays them from highest to lowest.           </vt:lpstr>
      <vt:lpstr>Sales Performance Analysis by City This code calculates the total sales for each city and displays them in descending order. </vt:lpstr>
      <vt:lpstr>PowerPoint Presentation</vt:lpstr>
      <vt:lpstr>Payment Method Frequency It counts how many times each payment method appears.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“Python is a high-level, versatile programming language widely used for data analysis, automation, web development, and machine learning. Its simplicity and extensive libraries like Pandas, NumPy, and Matplotlib make it ideal for analyzing data and creating insightful visualizations.”        </dc:title>
  <dc:creator>pc-1</dc:creator>
  <cp:lastModifiedBy>pc-1</cp:lastModifiedBy>
  <cp:revision>6</cp:revision>
  <dcterms:created xsi:type="dcterms:W3CDTF">2026-01-31T07:13:28Z</dcterms:created>
  <dcterms:modified xsi:type="dcterms:W3CDTF">2026-02-03T07:03:13Z</dcterms:modified>
</cp:coreProperties>
</file>